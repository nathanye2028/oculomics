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D1495B"/>
            </a:solidFill>
          </c:spPr>
          <c:cat>
            <c:strRef>
              <c:f>Sheet1!$A$2:$A$8</c:f>
              <c:strCache>
                <c:ptCount val="7"/>
                <c:pt idx="0">
                  <c:v>&lt;30</c:v>
                </c:pt>
                <c:pt idx="1">
                  <c:v>30–39</c:v>
                </c:pt>
                <c:pt idx="2">
                  <c:v>40–49</c:v>
                </c:pt>
                <c:pt idx="3">
                  <c:v>50–59</c:v>
                </c:pt>
                <c:pt idx="4">
                  <c:v>60–69</c:v>
                </c:pt>
                <c:pt idx="5">
                  <c:v>70–79</c:v>
                </c:pt>
                <c:pt idx="6">
                  <c:v>80+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6.0</c:v>
                </c:pt>
                <c:pt idx="1">
                  <c:v>4.5</c:v>
                </c:pt>
                <c:pt idx="2">
                  <c:v>5.0</c:v>
                </c:pt>
                <c:pt idx="3">
                  <c:v>4.8</c:v>
                </c:pt>
                <c:pt idx="4">
                  <c:v>4.7</c:v>
                </c:pt>
                <c:pt idx="5">
                  <c:v>5.0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2B2D4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C757D"/>
                    </a:solidFill>
                    <a:latin typeface="Calibri"/>
                  </a:rPr>
                  <a:t>MAE (years) by age bin;  n = 135 · 133 · 219 · 298 · 319 · 253 · 131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6C757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C757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3D5A80"/>
            </a:solidFill>
          </c:spPr>
          <c:cat>
            <c:strRef>
              <c:f>Sheet1!$A$2:$A$6</c:f>
              <c:strCache>
                <c:ptCount val="5"/>
                <c:pt idx="0">
                  <c:v>zero-shot</c:v>
                </c:pt>
                <c:pt idx="1">
                  <c:v>+ AdaBN</c:v>
                </c:pt>
                <c:pt idx="2">
                  <c:v>device-calibrated</c:v>
                </c:pt>
                <c:pt idx="3">
                  <c:v>AdaBN + calibrated</c:v>
                </c:pt>
                <c:pt idx="4">
                  <c:v>in-domain ceiling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14.02</c:v>
                </c:pt>
                <c:pt idx="1">
                  <c:v>9.65</c:v>
                </c:pt>
                <c:pt idx="2">
                  <c:v>8.16</c:v>
                </c:pt>
                <c:pt idx="3">
                  <c:v>8.11</c:v>
                </c:pt>
                <c:pt idx="4">
                  <c:v>4.91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2B2D4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000" b="0" i="0">
                    <a:solidFill>
                      <a:srgbClr val="6C757D"/>
                    </a:solidFill>
                    <a:latin typeface="Calibri"/>
                  </a:rPr>
                  <a:t>MAE (years) on held-out mBRSET patients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6C757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C757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D1495B"/>
            </a:solidFill>
          </c:spPr>
          <c:cat>
            <c:strRef>
              <c:f>Sheet1!$A$2:$A$7</c:f>
              <c:strCache>
                <c:ptCount val="6"/>
                <c:pt idx="0">
                  <c:v>macular edema</c:v>
                </c:pt>
                <c:pt idx="1">
                  <c:v>referable DR</c:v>
                </c:pt>
                <c:pt idx="2">
                  <c:v>any DR</c:v>
                </c:pt>
                <c:pt idx="3">
                  <c:v>diabetes</c:v>
                </c:pt>
                <c:pt idx="4">
                  <c:v>insulin use</c:v>
                </c:pt>
                <c:pt idx="5">
                  <c:v>AMD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5.07</c:v>
                </c:pt>
                <c:pt idx="1">
                  <c:v>4.03</c:v>
                </c:pt>
                <c:pt idx="2">
                  <c:v>3.5</c:v>
                </c:pt>
                <c:pt idx="3">
                  <c:v>1.87</c:v>
                </c:pt>
                <c:pt idx="4">
                  <c:v>1.76</c:v>
                </c:pt>
                <c:pt idx="5">
                  <c:v>1.53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sz="1100" b="1">
                  <a:solidFill>
                    <a:srgbClr val="2B2D4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6C757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5"/>
          <c:min val="0.0"/>
        </c:scaling>
        <c:delete val="0"/>
        <c:axPos val="b"/>
        <c:majorGridlines>
          <c:spPr>
            <a:ln w="6350"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 i="0">
                    <a:solidFill>
                      <a:srgbClr val="6C757D"/>
                    </a:solidFill>
                    <a:latin typeface="Calibri"/>
                  </a:rPr>
                  <a:t>adjusted difference in corrected gap, years older than reference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C757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referable DR (within diabetics)</c:v>
                </c:pt>
              </c:strCache>
            </c:strRef>
          </c:tx>
          <c:spPr>
            <a:ln w="31750">
              <a:solidFill>
                <a:srgbClr val="D1495B"/>
              </a:solidFill>
            </a:ln>
          </c:spPr>
          <c:marker>
            <c:symbol val="circle"/>
            <c:size val="8"/>
            <c:spPr>
              <a:solidFill>
                <a:srgbClr val="D1495B"/>
              </a:solidFill>
              <a:ln>
                <a:solidFill>
                  <a:srgbClr val="D1495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13.1</c:v>
                </c:pt>
                <c:pt idx="1">
                  <c:v>15.4</c:v>
                </c:pt>
                <c:pt idx="2">
                  <c:v>15.8</c:v>
                </c:pt>
                <c:pt idx="3">
                  <c:v>31.3</c:v>
                </c:pt>
                <c:pt idx="4">
                  <c:v>55.6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macular edema (within diabetics)</c:v>
                </c:pt>
              </c:strCache>
            </c:strRef>
          </c:tx>
          <c:spPr>
            <a:ln w="31750">
              <a:solidFill>
                <a:srgbClr val="EDAE49"/>
              </a:solidFill>
            </a:ln>
          </c:spPr>
          <c:marker>
            <c:symbol val="circle"/>
            <c:size val="8"/>
            <c:spPr>
              <a:solidFill>
                <a:srgbClr val="EDAE49"/>
              </a:solidFill>
              <a:ln>
                <a:solidFill>
                  <a:srgbClr val="EDAE49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4.2</c:v>
                </c:pt>
                <c:pt idx="1">
                  <c:v>6.6</c:v>
                </c:pt>
                <c:pt idx="2">
                  <c:v>6.9</c:v>
                </c:pt>
                <c:pt idx="3">
                  <c:v>14.7</c:v>
                </c:pt>
                <c:pt idx="4">
                  <c:v>36.7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diabetes (all patients)</c:v>
                </c:pt>
              </c:strCache>
            </c:strRef>
          </c:tx>
          <c:spPr>
            <a:ln w="31750">
              <a:solidFill>
                <a:srgbClr val="3D5A80"/>
              </a:solidFill>
            </a:ln>
          </c:spPr>
          <c:marker>
            <c:symbol val="circle"/>
            <c:size val="8"/>
            <c:spPr>
              <a:solidFill>
                <a:srgbClr val="3D5A80"/>
              </a:solidFill>
              <a:ln>
                <a:solidFill>
                  <a:srgbClr val="3D5A80"/>
                </a:solidFill>
              </a:ln>
            </c:spPr>
          </c:marker>
          <c:dLbls>
            <c:numFmt formatCode="0&quot;%&quot;" sourceLinked="0"/>
            <c:txPr>
              <a:bodyPr/>
              <a:lstStyle/>
              <a:p>
                <a:pPr>
                  <a:defRPr sz="1000">
                    <a:solidFill>
                      <a:srgbClr val="2B2D42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35.9</c:v>
                </c:pt>
                <c:pt idx="1">
                  <c:v>30.5</c:v>
                </c:pt>
                <c:pt idx="2">
                  <c:v>35.4</c:v>
                </c:pt>
                <c:pt idx="3">
                  <c:v>44.1</c:v>
                </c:pt>
                <c:pt idx="4">
                  <c:v>52.4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2B2D42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>
                <a:solidFill>
                  <a:srgbClr val="6C757D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5.0"/>
          <c:min val="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C757D"/>
                </a:solidFill>
              </a:defRPr>
            </a:pPr>
          </a:p>
        </c:txPr>
        <c:crossAx val="2118791784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2B2D42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Headline: a 2.8M-parameter mobile network reads age at UK-Biobank-clock accuracy on the tabletop camera; the phone images carry the same signal when the model is trained on them; and the bias-corrected retinal age gap tracks diabetic eye disease on both cameras.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steps: a clock trained on healthy retinas and measured on both cameras, then the corrected gap against every clinical label at the patient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BRSET is the training set; mBRSET is the phone set. Every mBRSET patient is diabetic, so its healthy rule is DR-grade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Code: train_retinal_age.py, run_retinal_age.sh, summarize_retinal_age.py, analyze_age_gap.py; 99 synthetic, network-free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Held-out BRSET: MAE 5.07 ± 0.09 y, r 0.920 ± 0.004. Excluded patients read +1.7 y older after correction, consistent between the test slice and the never-trained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Zero-shot: MAE 14.0, r 0.43, offset -9.6 y with seed SD 3.8. AdaBN 9.65 / 0.42. Device-calibrated 8.16 / 0.43. In-domain ceiling trained on mBRSET DR-0 patients: 4.91 / 0.82.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ceiling separates range from information: mBRSET's narrow age range caps r near 0.8, and the ceiling gets there, so the transferred model's 0.43 is lost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rows are within diabetics. Insulin flips sign under adjustment (unadjusted -0.89) because insulin users are younger: quote adjusted values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Prevalence by quintile is unadjusted and descriptive; the adjusted OR per +5 years is its one-number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ceiling's reference group is its DR-0 test partition only (its DR-0 training patients cannot be scored), so its intervals are wider.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6583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Retinal Age on a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889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DAE49"/>
                </a:solidFill>
                <a:latin typeface="Calibri"/>
              </a:rPr>
              <a:t>A mobile clock, its transfer to smartphone images, and the retinal age gap against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9BB0"/>
                </a:solidFill>
                <a:latin typeface="Calibri"/>
              </a:rPr>
              <a:t>Oculomics · retinal-age track · 6 – 12 September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234440"/>
            <a:ext cx="4023360" cy="1280160"/>
          </a:xfrm>
          <a:prstGeom prst="roundRect">
            <a:avLst>
              <a:gd name="adj" fmla="val 8000"/>
            </a:avLst>
          </a:prstGeom>
          <a:solidFill>
            <a:srgbClr val="27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344168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EDAE49"/>
                </a:solidFill>
                <a:latin typeface="Cambria"/>
              </a:rPr>
              <a:t>5.1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05740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CADB"/>
                </a:solidFill>
                <a:latin typeface="Calibri"/>
              </a:rPr>
              <a:t>MAE, tabletop camera (BRSET), r = 0.92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743200"/>
            <a:ext cx="4023360" cy="1280160"/>
          </a:xfrm>
          <a:prstGeom prst="roundRect">
            <a:avLst>
              <a:gd name="adj" fmla="val 8000"/>
            </a:avLst>
          </a:prstGeom>
          <a:solidFill>
            <a:srgbClr val="27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2852928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EDAE49"/>
                </a:solidFill>
                <a:latin typeface="Cambria"/>
              </a:rPr>
              <a:t>4.9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56616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CADB"/>
                </a:solidFill>
                <a:latin typeface="Calibri"/>
              </a:rPr>
              <a:t>MAE, smartphone, trained in-domain, r = 0.82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4251960"/>
            <a:ext cx="4023360" cy="1280160"/>
          </a:xfrm>
          <a:prstGeom prst="roundRect">
            <a:avLst>
              <a:gd name="adj" fmla="val 8000"/>
            </a:avLst>
          </a:prstGeom>
          <a:solidFill>
            <a:srgbClr val="27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4361688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EDAE49"/>
                </a:solidFill>
                <a:latin typeface="Cambria"/>
              </a:rPr>
              <a:t>+4.0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CADB"/>
                </a:solidFill>
                <a:latin typeface="Calibri"/>
              </a:rPr>
              <a:t>retinal age gap, referable diabetic retinopathy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B2D42"/>
                </a:solidFill>
                <a:latin typeface="Cambria"/>
              </a:rPr>
              <a:t>Two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6C757D"/>
                </a:solidFill>
                <a:latin typeface="Calibri"/>
              </a:rPr>
              <a:t>The retina carries age; the label is free; the gap between retinal and real age is a proposed vascular-ageing biomarker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B2D42"/>
                </a:solidFill>
                <a:latin typeface="Calibri"/>
              </a:rPr>
              <a:t>Can a 2.8 M-parameter network read age from a fundus photo, on both cameras?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Calibri"/>
              </a:rPr>
              <a:t>Train only on retinas that are ageing normally; measure on held-out BRSET patients (tabletop, Canon / Nikon) and on mBRSET (smartphone, Phelcom Eyer).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D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639312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B2D42"/>
                </a:solidFill>
                <a:latin typeface="Calibri"/>
              </a:rPr>
              <a:t>Does the corrected retinal age gap track disease?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0624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Calibri"/>
              </a:rPr>
              <a:t>Patient-level, gradable images only, adjusted for age, age², sex and camera: every clinical label the two datasets carry, prevalence by gap quintile, dose–response trends.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783080"/>
            <a:ext cx="4434840" cy="393192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96596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Why this fits the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350008"/>
            <a:ext cx="3977639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D42"/>
                </a:solidFill>
                <a:latin typeface="Calibri"/>
              </a:rPr>
              <a:t>The premise is a small network reading clinical signal from an unconstrained phone capture. Age is the cleanest such signal: every retina carries it, and the gap has published links to mortality and vascular disease (Zhu 2023, Poplin 2018).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D4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B2D42"/>
                </a:solidFill>
                <a:latin typeface="Calibri"/>
              </a:rPr>
              <a:t>The design choices that matter: who counts as healthy, how the split avoids leakage, how the clock's own bias is corrected, and how the phone domain is handled.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B2D42"/>
                </a:solidFill>
                <a:latin typeface="Cambria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6C757D"/>
                </a:solidFill>
                <a:latin typeface="Calibri"/>
              </a:rPr>
              <a:t>Two Brazilian fundus datasets with the same clinical labels, different cameras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1672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4343400"/>
                <a:gridCol w="437083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BRSET · tabletop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mBRSET · smartphone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B2D42"/>
                          </a:solidFill>
                          <a:latin typeface="Calibri"/>
                        </a:rPr>
                        <a:t>images with an 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10,820  (5,649 patients)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5,152  (1,288 patients)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B2D42"/>
                          </a:solidFill>
                          <a:latin typeface="Calibri"/>
                        </a:rPr>
                        <a:t>healthy, used for training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7,413 images, 4,061 patients: no diabetes, DR 0 on every image, adequate quality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DR-0 only (every patient is diabetic): 2,974 images, 747 patients — the in-domain ceiling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B2D42"/>
                          </a:solidFill>
                          <a:latin typeface="Calibri"/>
                        </a:rPr>
                        <a:t>excluded from training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diabetes 2,384 · ungradable 963 · DR in a non-diabetic 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DR 1,886 · ungradable 292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B2D42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mean 58, wide: 979 patients under 30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clustered 50 – 79: 8 patients under 30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B2D42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every patient diabetic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257800"/>
            <a:ext cx="11094415" cy="10058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44068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The age-range asymmetry matters twice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247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B2D42"/>
                </a:solidFill>
                <a:latin typeface="Calibri"/>
              </a:rPr>
              <a:t>It makes r non-comparable across the two sets (a wide range makes the trend easy to see), and it means an mBRSET-trained clock cannot extrapolate to BRSET's young and old tails.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B2D42"/>
                </a:solidFill>
                <a:latin typeface="Cambria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6C757D"/>
                </a:solidFill>
                <a:latin typeface="Calibri"/>
              </a:rPr>
              <a:t>Same loader, FOV crop, augmentation and AdaBN as the DR classifier — only the pixels differ between cameras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64327" cy="21488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2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Healthy cohort, patient-level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58568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D42"/>
                </a:solidFill>
                <a:latin typeface="Calibri"/>
              </a:rPr>
              <a:t>No diabetes, DR grade 0 on every image of the patient (one eye with retinopathy disqualifies the fellow eye), adequate quality. Disease shifts the gap, so the clock never sees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691640"/>
            <a:ext cx="5364327" cy="21488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87452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Split before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2258568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D42"/>
                </a:solidFill>
                <a:latin typeface="Calibri"/>
              </a:rPr>
              <a:t>Patient-grouped, age-stratified 70/10/20 drawn over ALL patients; the healthy rule is applied to train and val afterwards. Every diseased image is scorable, and none was trained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5364327" cy="21488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Recipe and bias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27448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D42"/>
                </a:solidFill>
                <a:latin typeface="Calibri"/>
              </a:rPr>
              <a:t>MobileNetV4-Small, 384 px, ImageNet init, L1 on standardised age, healthy-val MAE selects the checkpoint. The gap is anti-correlated with age (regression to the mean), so gap = a + b·age is fit on healthy val and subtracted (Beheshti 2019).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4160520"/>
            <a:ext cx="5364327" cy="21488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4343400"/>
            <a:ext cx="4907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Phone domain: calibration and ceiling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4727448"/>
            <a:ext cx="4907127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B2D42"/>
                </a:solidFill>
                <a:latin typeface="Calibri"/>
              </a:rPr>
              <a:t>Device calibration: age ≈ c + d·pred fit on the phone set's DR-0 patients in two patient-grouped folds, scored out of fold, with its own bias correction. Ceiling: the same network trained on mBRSET's DR-0 patients, scored on held-out phone patients.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B2D42"/>
                </a:solidFill>
                <a:latin typeface="Cambria"/>
              </a:rPr>
              <a:t>The clock on the tabletop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6C757D"/>
                </a:solidFill>
                <a:latin typeface="Calibri"/>
              </a:rPr>
              <a:t>BRSET, three seeds, MobileNetV4-Small at 384 px, 2.8 M parameters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2926080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D1495B"/>
                </a:solidFill>
                <a:latin typeface="Cambria"/>
              </a:rPr>
              <a:t>5.07 ± 0.09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59405"/>
            <a:ext cx="2926080" cy="477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  <a:latin typeface="Calibri"/>
              </a:rPr>
              <a:t>MAE, 1,488 held-out healthy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55848"/>
            <a:ext cx="2926080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D1495B"/>
                </a:solidFill>
                <a:latin typeface="Cambria"/>
              </a:rPr>
              <a:t>r = 0.92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8165"/>
            <a:ext cx="2926080" cy="477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  <a:latin typeface="Calibri"/>
              </a:rPr>
              <a:t>predicted vs true age, seed SD 0.004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5488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864608"/>
            <a:ext cx="2926080" cy="7292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3D5A80"/>
                </a:solidFill>
                <a:latin typeface="Cambria"/>
              </a:rPr>
              <a:t>+1.7 ± 0.1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6925"/>
            <a:ext cx="2926080" cy="477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  <a:latin typeface="Calibri"/>
              </a:rPr>
              <a:t>corrected gap of excluded patients vs healthy, replicated on 2,727 never-trained images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06240" y="1691640"/>
          <a:ext cx="74066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06240" y="5349240"/>
            <a:ext cx="7406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C757D"/>
                </a:solidFill>
                <a:latin typeface="Calibri"/>
              </a:rPr>
              <a:t>The tails are one to two years worse (BRSET is 40 – 70 heavy) and the raw gap drifts from +4.6 y in the under-30s to −6.1 y in the 80+, which the bias correction removes. The UK Biobank clocks (Poplin 2018, Zhu 2023) reach 3.3 – 3.6 y on 20 – 40 k images with far larger networks; predicting the mean age gives 14 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B2D42"/>
                </a:solidFill>
                <a:latin typeface="Cambria"/>
              </a:rPr>
              <a:t>Transfer to the smartphone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6C757D"/>
                </a:solidFill>
                <a:latin typeface="Calibri"/>
              </a:rPr>
              <a:t>mBRSET, 4,860 gradable images from 1,282 patients — the same network, then the same architecture trained in-domain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69494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818120" y="1691640"/>
          <a:ext cx="3840480" cy="2304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118872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3D5A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73152" marT="27432" marB="27432" anchor="ctr">
                    <a:solidFill>
                      <a:srgbClr val="3D5A8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27432" marB="27432" anchor="ctr">
                    <a:solidFill>
                      <a:srgbClr val="3D5A8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14.0 ± 2.2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+ AdaBN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9.65 ± 0.18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device-calibrated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8.16 ± 0.33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AdaBN + calibrated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8.11 ± 0.07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D1495B"/>
                          </a:solidFill>
                          <a:latin typeface="Calibri"/>
                        </a:rPr>
                        <a:t>in-domain ceiling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D1495B"/>
                          </a:solidFill>
                          <a:latin typeface="Calibri"/>
                        </a:rPr>
                        <a:t>4.91 ± 0.37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D1495B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4206240"/>
            <a:ext cx="3840480" cy="16002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4389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Read the r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73168"/>
            <a:ext cx="3383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D42"/>
                </a:solidFill>
                <a:latin typeface="Calibri"/>
              </a:rPr>
              <a:t>AdaBN fixes the offset, calibration fixes the scale, and r never moves: neither adds information. The ceiling shows the information is in the phone pixels.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6C757D"/>
                </a:solidFill>
                <a:latin typeface="Calibri"/>
              </a:rPr>
              <a:t>Predicting the mean age on mBRSET gives about 9 y; zero-shot is worse than that.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B2D42"/>
                </a:solidFill>
                <a:latin typeface="Cambria"/>
              </a:rPr>
              <a:t>Why the transfer fails, and what fixes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6C757D"/>
                </a:solidFill>
                <a:latin typeface="Calibri"/>
              </a:rPr>
              <a:t>Three separate effects, one of which no calibration can touch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454298" cy="28346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9970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Offset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0008"/>
            <a:ext cx="299709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D42"/>
                </a:solidFill>
                <a:latin typeface="Calibri"/>
              </a:rPr>
              <a:t>Predictions sit about 8 years too low and the offset varies by seed (SD 3.8 y): a BatchNorm-statistics mismatch, the same mechanism as the DR operating point.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D4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D42"/>
                </a:solidFill>
                <a:latin typeface="Calibri"/>
              </a:rPr>
              <a:t>Fixed by AdaBN.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8698" y="1783080"/>
            <a:ext cx="3454298" cy="28346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7298" y="1965960"/>
            <a:ext cx="29970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298" y="2350008"/>
            <a:ext cx="299709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D42"/>
                </a:solidFill>
                <a:latin typeface="Calibri"/>
              </a:rPr>
              <a:t>Raw phone predictions spread 1.6× wider than true age: device variation the model misreads as age. The calibration slope is d = 0.40.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D4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D42"/>
                </a:solidFill>
                <a:latin typeface="Calibri"/>
              </a:rPr>
              <a:t>Fixed by device calibration, at the price of predictions shrunk toward the mean.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8756" y="1783080"/>
            <a:ext cx="3454298" cy="2834640"/>
          </a:xfrm>
          <a:prstGeom prst="roundRect">
            <a:avLst>
              <a:gd name="adj" fmla="val 8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7356" y="1965960"/>
            <a:ext cx="29970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7356" y="2350008"/>
            <a:ext cx="299709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D42"/>
                </a:solidFill>
                <a:latin typeface="Calibri"/>
              </a:rPr>
              <a:t>r stays at 0.43 through both fixes. An in-domain-quality clock scores about 0.8 on this age range; the ceiling reaches 0.82.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D42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B2D42"/>
                </a:solidFill>
                <a:latin typeface="Calibri"/>
              </a:rPr>
              <a:t>Not fixable by calibration. Fixed by training on phone images.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59"/>
            <a:ext cx="11094415" cy="10515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Consequence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04688"/>
            <a:ext cx="10637215" cy="320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B2D42"/>
                </a:solidFill>
                <a:latin typeface="Calibri"/>
              </a:rPr>
              <a:t>Zero-shot transfer of an age clock is not viable. Mixed-domain training — BRSET healthy plus mBRSET DR-0 patients in training, mBRSET's held-out patients for scoring — is the pending v3 sweep. BRSET must stay in the mix: an mBRSET-only clock scores 36 y MAE on BRSET's under-30s, having seen 8 of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B2D42"/>
                </a:solidFill>
                <a:latin typeface="Cambria"/>
              </a:rPr>
              <a:t>The gap against disease: tabletop 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6C757D"/>
                </a:solidFill>
                <a:latin typeface="Calibri"/>
              </a:rPr>
              <a:t>3,266 BRSET patients with gradable images; adjusted for age, age², sex and camera; reference = healthy held-out patients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35240" y="1691640"/>
            <a:ext cx="4023360" cy="20116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8745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Effect sizes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258568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D42"/>
                </a:solidFill>
                <a:latin typeface="Calibri"/>
              </a:rPr>
              <a:t>Edema d = 0.97, referable DR 0.86, any DR 0.76, diabetes 0.27. Odds of referable DR rise 1.9× per 5 extra years of gap (2.1× for edema). All q &lt; 0.001. AMD is borderline (q = 0.10).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886200"/>
            <a:ext cx="4023360" cy="20116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40690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1495B"/>
                </a:solidFill>
                <a:latin typeface="Calibri"/>
              </a:rPr>
              <a:t>What stays 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453128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B2D42"/>
                </a:solidFill>
                <a:latin typeface="Calibri"/>
              </a:rPr>
              <a:t>Drusen, cup–disc ratio, hypertensive retinopathy, occlusion, haemorrhage, myopia, scar, nevus: the clock responds to diabetic vascular disease specifically. An ungradable image alone is worth +1.5 y, so every table uses gradable images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B2D42"/>
                </a:solidFill>
                <a:latin typeface="Cambria"/>
              </a:rPr>
              <a:t>Dose–response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6C757D"/>
                </a:solidFill>
                <a:latin typeface="Calibri"/>
              </a:rPr>
              <a:t>Disease prevalence by quintile of the corrected gap, BRSET (Q1 = youngest-looking retinas, Q5 = oldest-looking)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9164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18120" y="169164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801368"/>
            <a:ext cx="3474720" cy="678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D1495B"/>
                </a:solidFill>
                <a:latin typeface="Cambria"/>
              </a:rPr>
              <a:t>13% → 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456992"/>
            <a:ext cx="3474720" cy="444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  <a:latin typeface="Calibri"/>
              </a:rPr>
              <a:t>referable DR, youngest to oldest-looking quintile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0896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3218688"/>
            <a:ext cx="3474720" cy="678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D1495B"/>
                </a:solidFill>
                <a:latin typeface="Cambria"/>
              </a:rPr>
              <a:t>+1.2 y per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874312"/>
            <a:ext cx="3474720" cy="444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  <a:latin typeface="Calibri"/>
              </a:rPr>
              <a:t>DR grade 0 → 4 (grade 0 +0.7, grade 3 +8.3)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452628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4636008"/>
            <a:ext cx="3474720" cy="6789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3D5A80"/>
                </a:solidFill>
                <a:latin typeface="Cambria"/>
              </a:rPr>
              <a:t>+0.76 y per decade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291632"/>
            <a:ext cx="3474720" cy="444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  <a:latin typeface="Calibri"/>
              </a:rPr>
              <a:t>of diabetes duration (ρ = 0.16, p &lt; 0.001)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2B2D42"/>
                </a:solidFill>
                <a:latin typeface="Cambria"/>
              </a:rPr>
              <a:t>Two clocks on the same phone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1">
                <a:solidFill>
                  <a:srgbClr val="6C757D"/>
                </a:solidFill>
                <a:latin typeface="Calibri"/>
              </a:rPr>
              <a:t>Adjusted Δ in corrected gap (years) on mBRSET's held-out patients: the transferred clock, device-calibrated, and the in-domain ceiling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1671" cy="40507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66160"/>
                <a:gridCol w="3749039"/>
                <a:gridCol w="377647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exposure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transferred clock  (r 0.43, n = 1,282)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in-domain ceiling  (r 0.82, n = 904)</a:t>
                      </a:r>
                    </a:p>
                  </a:txBody>
                  <a:tcPr marL="73152" marR="73152" marT="27432" marB="27432" anchor="ctr">
                    <a:solidFill>
                      <a:srgbClr val="2B2D4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B2D42"/>
                          </a:solidFill>
                          <a:latin typeface="Calibri"/>
                        </a:rPr>
                        <a:t>insulin use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D1495B"/>
                          </a:solidFill>
                          <a:latin typeface="Calibri"/>
                        </a:rPr>
                        <a:t>+1.21  [+0.74, +1.69]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D1495B"/>
                          </a:solidFill>
                          <a:latin typeface="Calibri"/>
                        </a:rPr>
                        <a:t>+1.31  [+0.53, +2.08]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any DR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+1.67  [+1.26, +2.09]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+0.43,  n.s.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referable DR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+2.31  [+1.87, +2.76]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+0.97  [+0.26, +1.69]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macular edema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+2.79  [+2.21, +3.36]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−0.09,  null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B2D42"/>
                          </a:solidFill>
                          <a:latin typeface="Calibri"/>
                        </a:rPr>
                        <a:t>diabetes duration, per 10 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D1495B"/>
                          </a:solidFill>
                          <a:latin typeface="Calibri"/>
                        </a:rPr>
                        <a:t>+0.83  [+0.46, +1.20]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B2D42"/>
                          </a:solidFill>
                          <a:latin typeface="Calibri"/>
                        </a:rPr>
                        <a:t>systemic hypertension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D1495B"/>
                          </a:solidFill>
                          <a:latin typeface="Calibri"/>
                        </a:rPr>
                        <a:t>+0.48  [+0.03, +0.93],  q 0.10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D1495B"/>
                          </a:solidFill>
                          <a:latin typeface="Calibri"/>
                        </a:rPr>
                        <a:t>+0.69  [−0.08, +1.45],  q 0.17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neuropathy  (n = 43)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+0.33,  null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3D5A80"/>
                          </a:solidFill>
                          <a:latin typeface="Calibri"/>
                        </a:rPr>
                        <a:t>+2.10  [+0.53, +3.68],  q 0.04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nephropathy  (n = 32)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+0.26,  null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+1.57  [−0.24, +3.39],  q 0.17</a:t>
                      </a:r>
                    </a:p>
                  </a:txBody>
                  <a:tcPr marL="73152" marR="73152" marT="27432" marB="27432" anchor="ctr">
                    <a:solidFill>
                      <a:srgbClr val="F1F3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myocardial infarction, vascular disease, diabetic foot, obesity, smoking, alcohol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B2D42"/>
                          </a:solidFill>
                          <a:latin typeface="Calibri"/>
                        </a:rPr>
                        <a:t>null  (smoking +1.4 and obesity −1.2, both q 0.16)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89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C757D"/>
                </a:solidFill>
                <a:latin typeface="Calibri"/>
              </a:rPr>
              <a:t>Crimson: replicated under both clocks. With the transferred clock referable-DR prevalence runs 11 % → 46 % across gap quintiles; the in-domain clock adds +0.42 y per DR grade. An ungradable image reads +2.1 y older on the phone.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